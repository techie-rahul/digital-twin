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dit\AppData\Local\Temp\claude\D--projects-hackx-rahul\e10a9331-0530-4bb5-a7da-3c2666daae57\scratchpad\ppt\assets\bg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Udit\AppData\Local\Temp\claude\D--projects-hackx-rahul\e10a9331-0530-4bb5-a7da-3c2666daae57\scratchpad\ppt\assets\manip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" y="209398"/>
            <a:ext cx="2357323" cy="470916"/>
          </a:xfrm>
          <a:prstGeom prst="rect">
            <a:avLst/>
          </a:prstGeom>
        </p:spPr>
      </p:pic>
      <p:pic>
        <p:nvPicPr>
          <p:cNvPr id="4" name="Image 2" descr="C:\Users\Udit\AppData\Local\Temp\claude\D--projects-hackx-rahul\e10a9331-0530-4bb5-a7da-3c2666daae57\scratchpad\ppt\assets\logo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593" y="960120"/>
            <a:ext cx="7185355" cy="2989174"/>
          </a:xfrm>
          <a:prstGeom prst="rect">
            <a:avLst/>
          </a:prstGeom>
        </p:spPr>
      </p:pic>
      <p:pic>
        <p:nvPicPr>
          <p:cNvPr id="5" name="Image 3" descr="C:\Users\Udit\AppData\Local\Temp\claude\D--projects-hackx-rahul\e10a9331-0530-4bb5-a7da-3c2666daae57\scratchpad\ppt\assets\sponso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160020"/>
            <a:ext cx="4563770" cy="627278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24305" y="434340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Change Sandbox</a:t>
            </a:r>
            <a:pPr algn="ctr" indent="0" marL="0">
              <a:lnSpc>
                <a:spcPct val="135000"/>
              </a:lnSpc>
              <a:buNone/>
            </a:pP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HX4-PS13-04</a:t>
            </a:r>
            <a:pPr algn="ctr" indent="0" marL="0">
              <a:lnSpc>
                <a:spcPct val="135000"/>
              </a:lnSpc>
              <a:buNone/>
            </a:pP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Selected: 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#13 – Security Digital Twin for Threat Vector Assessment</a:t>
            </a:r>
            <a:pPr algn="ctr" indent="0" marL="0">
              <a:lnSpc>
                <a:spcPct val="135000"/>
              </a:lnSpc>
              <a:buNone/>
            </a:pP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Defence Systems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dit\AppData\Local\Temp\claude\D--projects-hackx-rahul\e10a9331-0530-4bb5-a7da-3c2666daae57\scratchpad\ppt\assets\manipa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4" y="158191"/>
            <a:ext cx="2524658" cy="508406"/>
          </a:xfrm>
          <a:prstGeom prst="rect">
            <a:avLst/>
          </a:prstGeom>
        </p:spPr>
      </p:pic>
      <p:pic>
        <p:nvPicPr>
          <p:cNvPr id="3" name="Image 1" descr="C:\Users\Udit\AppData\Local\Temp\claude\D--projects-hackx-rahul\e10a9331-0530-4bb5-a7da-3c2666daae57\scratchpad\ppt\assets\hackx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141732"/>
            <a:ext cx="1426464" cy="571500"/>
          </a:xfrm>
          <a:prstGeom prst="rect">
            <a:avLst/>
          </a:prstGeom>
        </p:spPr>
      </p:pic>
      <p:pic>
        <p:nvPicPr>
          <p:cNvPr id="4" name="Image 2" descr="C:\Users\Udit\AppData\Local\Temp\claude\D--projects-hackx-rahul\e10a9331-0530-4bb5-a7da-3c2666daae57\scratchpad\ppt\assets\sponsors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117958"/>
            <a:ext cx="4174236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97280" y="86868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CHANGE SANDBOX</a:t>
            </a:r>
            <a:endParaRPr lang="en-US" sz="3200" dirty="0"/>
          </a:p>
        </p:txBody>
      </p:sp>
      <p:sp>
        <p:nvSpPr>
          <p:cNvPr id="6" name="Shape 1"/>
          <p:cNvSpPr/>
          <p:nvPr/>
        </p:nvSpPr>
        <p:spPr>
          <a:xfrm>
            <a:off x="502920" y="1783080"/>
            <a:ext cx="5431536" cy="3017520"/>
          </a:xfrm>
          <a:prstGeom prst="roundRect">
            <a:avLst>
              <a:gd name="adj" fmla="val 2727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758952" y="2039112"/>
            <a:ext cx="438912" cy="438912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758952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371600" y="201168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758952" y="2651760"/>
            <a:ext cx="49194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3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deploy controls on gut feel. Two families of tools exist today, and each answers only half the Change Advisory Board's (CAB) question:</a:t>
            </a:r>
            <a:endParaRPr lang="en-US" sz="12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Attack-path tools (BloodHound, XM Cyber, Wiz) show paths eliminated — never whether it breaks payroll, backups, or APIs.</a:t>
            </a:r>
            <a:endParaRPr lang="en-US" sz="12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policy analyzers (Azure VNM, AWS IAM Sim) show packet drops — never any attacker path or risk score.</a:t>
            </a:r>
            <a:endParaRPr lang="en-US" sz="12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joins security benefit and business breakage on one model, for one proposed change.</a:t>
            </a:r>
            <a:endParaRPr lang="en-US" sz="1230" dirty="0"/>
          </a:p>
        </p:txBody>
      </p:sp>
      <p:sp>
        <p:nvSpPr>
          <p:cNvPr id="11" name="Shape 6"/>
          <p:cNvSpPr/>
          <p:nvPr/>
        </p:nvSpPr>
        <p:spPr>
          <a:xfrm>
            <a:off x="6254496" y="1783080"/>
            <a:ext cx="5431536" cy="3017520"/>
          </a:xfrm>
          <a:prstGeom prst="roundRect">
            <a:avLst>
              <a:gd name="adj" fmla="val 2727"/>
            </a:avLst>
          </a:prstGeom>
          <a:solidFill>
            <a:srgbClr val="EFE3FB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510528" y="2039112"/>
            <a:ext cx="438912" cy="438912"/>
          </a:xfrm>
          <a:prstGeom prst="ellipse">
            <a:avLst/>
          </a:prstGeom>
          <a:solidFill>
            <a:srgbClr val="6425C9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510528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123176" y="201168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510528" y="2651760"/>
            <a:ext cx="49194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3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 digital twin that tells a change board, for any proposed security control, both what it stops the attacker doing AND what it breaks in production — before deployment.</a:t>
            </a:r>
            <a:endParaRPr lang="en-US" sz="12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3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primitive: </a:t>
            </a:r>
            <a:pPr algn="l"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ServiceFlow — legitimate dependencies (e.g. payroll-api → prod-db, Crit 5) that must keep working. Criticality ≥ 4 breakage → instant BLOCK.</a:t>
            </a:r>
            <a:endParaRPr lang="en-US" sz="123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the attacker's re-planned route, cost delta, and recommended safe alternatives.</a:t>
            </a:r>
            <a:endParaRPr lang="en-US" sz="1230" dirty="0"/>
          </a:p>
        </p:txBody>
      </p:sp>
      <p:sp>
        <p:nvSpPr>
          <p:cNvPr id="16" name="Shape 11"/>
          <p:cNvSpPr/>
          <p:nvPr/>
        </p:nvSpPr>
        <p:spPr>
          <a:xfrm>
            <a:off x="502920" y="5029200"/>
            <a:ext cx="11185855" cy="1005840"/>
          </a:xfrm>
          <a:prstGeom prst="roundRect">
            <a:avLst>
              <a:gd name="adj" fmla="val 8182"/>
            </a:avLst>
          </a:prstGeom>
          <a:solidFill>
            <a:srgbClr val="1B0E30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02920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“Adaptive attacker modelling exists in research — MAL Simulator, CAGE. Control impact exists in cloud platforms — Azure. To our knowledge no product joins security benefit and business breakage on one model for a single proposed change, which is the decision a change board actually makes.”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dit\AppData\Local\Temp\claude\D--projects-hackx-rahul\e10a9331-0530-4bb5-a7da-3c2666daae57\scratchpad\ppt\assets\manipa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4" y="158191"/>
            <a:ext cx="2524658" cy="508406"/>
          </a:xfrm>
          <a:prstGeom prst="rect">
            <a:avLst/>
          </a:prstGeom>
        </p:spPr>
      </p:pic>
      <p:pic>
        <p:nvPicPr>
          <p:cNvPr id="3" name="Image 1" descr="C:\Users\Udit\AppData\Local\Temp\claude\D--projects-hackx-rahul\e10a9331-0530-4bb5-a7da-3c2666daae57\scratchpad\ppt\assets\hackx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141732"/>
            <a:ext cx="1426464" cy="571500"/>
          </a:xfrm>
          <a:prstGeom prst="rect">
            <a:avLst/>
          </a:prstGeom>
        </p:spPr>
      </p:pic>
      <p:pic>
        <p:nvPicPr>
          <p:cNvPr id="4" name="Image 2" descr="C:\Users\Udit\AppData\Local\Temp\claude\D--projects-hackx-rahul\e10a9331-0530-4bb5-a7da-3c2666daae57\scratchpad\ppt\assets\sponsors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117958"/>
            <a:ext cx="4174236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97280" y="86868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6" name="Shape 1"/>
          <p:cNvSpPr/>
          <p:nvPr/>
        </p:nvSpPr>
        <p:spPr>
          <a:xfrm>
            <a:off x="502920" y="1783080"/>
            <a:ext cx="1620469" cy="868680"/>
          </a:xfrm>
          <a:prstGeom prst="roundRect">
            <a:avLst>
              <a:gd name="adj" fmla="val 8421"/>
            </a:avLst>
          </a:prstGeom>
          <a:solidFill>
            <a:srgbClr val="6425C9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548640" y="1783080"/>
            <a:ext cx="15290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endParaRPr lang="en-US" sz="1150" dirty="0"/>
          </a:p>
        </p:txBody>
      </p:sp>
      <p:sp>
        <p:nvSpPr>
          <p:cNvPr id="8" name="Shape 3"/>
          <p:cNvSpPr/>
          <p:nvPr/>
        </p:nvSpPr>
        <p:spPr>
          <a:xfrm>
            <a:off x="2123389" y="2135124"/>
            <a:ext cx="292608" cy="164592"/>
          </a:xfrm>
          <a:prstGeom prst="rightArrow">
            <a:avLst/>
          </a:prstGeom>
          <a:solidFill>
            <a:srgbClr val="6E6A7C"/>
          </a:solidFill>
          <a:ln/>
        </p:spPr>
      </p:sp>
      <p:sp>
        <p:nvSpPr>
          <p:cNvPr id="9" name="Shape 4"/>
          <p:cNvSpPr/>
          <p:nvPr/>
        </p:nvSpPr>
        <p:spPr>
          <a:xfrm>
            <a:off x="2415997" y="1783080"/>
            <a:ext cx="1620469" cy="868680"/>
          </a:xfrm>
          <a:prstGeom prst="roundRect">
            <a:avLst>
              <a:gd name="adj" fmla="val 8421"/>
            </a:avLst>
          </a:prstGeom>
          <a:solidFill>
            <a:srgbClr val="4A1D8F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2461717" y="1783080"/>
            <a:ext cx="15290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Rules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4036466" y="2135124"/>
            <a:ext cx="292608" cy="164592"/>
          </a:xfrm>
          <a:prstGeom prst="rightArrow">
            <a:avLst/>
          </a:prstGeom>
          <a:solidFill>
            <a:srgbClr val="6E6A7C"/>
          </a:solidFill>
          <a:ln/>
        </p:spPr>
      </p:sp>
      <p:sp>
        <p:nvSpPr>
          <p:cNvPr id="12" name="Shape 7"/>
          <p:cNvSpPr/>
          <p:nvPr/>
        </p:nvSpPr>
        <p:spPr>
          <a:xfrm>
            <a:off x="4329074" y="1783080"/>
            <a:ext cx="1620469" cy="868680"/>
          </a:xfrm>
          <a:prstGeom prst="roundRect">
            <a:avLst>
              <a:gd name="adj" fmla="val 8421"/>
            </a:avLst>
          </a:prstGeom>
          <a:solidFill>
            <a:srgbClr val="6425C9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4374794" y="1783080"/>
            <a:ext cx="15290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Paths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(Alg A, cached)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949544" y="2135124"/>
            <a:ext cx="292608" cy="164592"/>
          </a:xfrm>
          <a:prstGeom prst="rightArrow">
            <a:avLst/>
          </a:prstGeom>
          <a:solidFill>
            <a:srgbClr val="6E6A7C"/>
          </a:solidFill>
          <a:ln/>
        </p:spPr>
      </p:sp>
      <p:sp>
        <p:nvSpPr>
          <p:cNvPr id="15" name="Shape 10"/>
          <p:cNvSpPr/>
          <p:nvPr/>
        </p:nvSpPr>
        <p:spPr>
          <a:xfrm>
            <a:off x="6242152" y="1783080"/>
            <a:ext cx="1620469" cy="868680"/>
          </a:xfrm>
          <a:prstGeom prst="roundRect">
            <a:avLst>
              <a:gd name="adj" fmla="val 8421"/>
            </a:avLst>
          </a:prstGeom>
          <a:solidFill>
            <a:srgbClr val="4A1D8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287872" y="1783080"/>
            <a:ext cx="15290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(Alg B)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862621" y="2135124"/>
            <a:ext cx="292608" cy="164592"/>
          </a:xfrm>
          <a:prstGeom prst="rightArrow">
            <a:avLst/>
          </a:prstGeom>
          <a:solidFill>
            <a:srgbClr val="6E6A7C"/>
          </a:solidFill>
          <a:ln/>
        </p:spPr>
      </p:sp>
      <p:sp>
        <p:nvSpPr>
          <p:cNvPr id="18" name="Shape 13"/>
          <p:cNvSpPr/>
          <p:nvPr/>
        </p:nvSpPr>
        <p:spPr>
          <a:xfrm>
            <a:off x="8155229" y="1783080"/>
            <a:ext cx="1620469" cy="868680"/>
          </a:xfrm>
          <a:prstGeom prst="roundRect">
            <a:avLst>
              <a:gd name="adj" fmla="val 8421"/>
            </a:avLst>
          </a:prstGeom>
          <a:solidFill>
            <a:srgbClr val="6425C9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200949" y="1783080"/>
            <a:ext cx="15290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775698" y="2135124"/>
            <a:ext cx="292608" cy="164592"/>
          </a:xfrm>
          <a:prstGeom prst="rightArrow">
            <a:avLst/>
          </a:prstGeom>
          <a:solidFill>
            <a:srgbClr val="6E6A7C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68306" y="1783080"/>
            <a:ext cx="1620469" cy="868680"/>
          </a:xfrm>
          <a:prstGeom prst="roundRect">
            <a:avLst>
              <a:gd name="adj" fmla="val 8421"/>
            </a:avLst>
          </a:prstGeom>
          <a:solidFill>
            <a:srgbClr val="4A1D8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10114026" y="1783080"/>
            <a:ext cx="152902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2920" y="2880360"/>
            <a:ext cx="5431536" cy="3200400"/>
          </a:xfrm>
          <a:prstGeom prst="roundRect">
            <a:avLst>
              <a:gd name="adj" fmla="val 2571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758952" y="306324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Decoupled Algorithms (Never Merged)</a:t>
            </a:r>
            <a:endParaRPr lang="en-US" sz="1550" dirty="0"/>
          </a:p>
        </p:txBody>
      </p:sp>
      <p:sp>
        <p:nvSpPr>
          <p:cNvPr id="25" name="Text 20"/>
          <p:cNvSpPr txBox="1"/>
          <p:nvPr/>
        </p:nvSpPr>
        <p:spPr>
          <a:xfrm>
            <a:off x="758952" y="3502152"/>
            <a:ext cx="49194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Algorithm A — Stateful DFS Search (runs once, cached):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(node, frozenset(capabilities)). An edge is only traversable once prerequisites (credentials collected on earlier hops) are held. Capped at depth 8, 5,000 states. Discovers complete path inventory.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Algorithm B — Sampled Monte Carlo Agent Walk: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200–500 seeded trials for empirical statistics. Threat actor has local vision, not omniscience — when an edge is blocked, adaptation is emergent as agent pivots. Seeded RNG for 100% stage reproducibility.</a:t>
            </a:r>
            <a:endParaRPr lang="en-US" sz="1180" dirty="0"/>
          </a:p>
        </p:txBody>
      </p:sp>
      <p:sp>
        <p:nvSpPr>
          <p:cNvPr id="26" name="Shape 21"/>
          <p:cNvSpPr/>
          <p:nvPr/>
        </p:nvSpPr>
        <p:spPr>
          <a:xfrm>
            <a:off x="6254496" y="2880360"/>
            <a:ext cx="5431536" cy="3200400"/>
          </a:xfrm>
          <a:prstGeom prst="roundRect">
            <a:avLst>
              <a:gd name="adj" fmla="val 2571"/>
            </a:avLst>
          </a:prstGeom>
          <a:solidFill>
            <a:srgbClr val="EFE3FB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6510528" y="306324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Engine &amp; Dual Metrics</a:t>
            </a:r>
            <a:endParaRPr lang="en-US" sz="1550" dirty="0"/>
          </a:p>
        </p:txBody>
      </p:sp>
      <p:sp>
        <p:nvSpPr>
          <p:cNvPr id="28" name="Text 23"/>
          <p:cNvSpPr txBox="1"/>
          <p:nvPr/>
        </p:nvSpPr>
        <p:spPr>
          <a:xfrm>
            <a:off x="6510528" y="3502152"/>
            <a:ext cx="49194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ship BOTH metrics (our pitch climax):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naive_path_reduction_pct — industry-standard metric required by the brief. Assumes a passive attacker who gives up.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honest_cost_increase_pct — how much harder the adaptive attacker works (+340% effort) when re-planning.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p_success_delta with Wilson score 95% confidence interval.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Actionable Verdict: </a:t>
            </a:r>
            <a:pPr algn="l" indent="0" marL="0">
              <a:lnSpc>
                <a:spcPct val="118000"/>
              </a:lnSpc>
              <a:buNone/>
            </a:pPr>
            <a:r>
              <a:rPr lang="en-US" sz="118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/ REVIEW / BLOCK</a:t>
            </a:r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broken flows, explainable rationale, and automated safe alternatives.</a:t>
            </a:r>
            <a:endParaRPr lang="en-US" sz="11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MITRE Grounding: 10 techniques in decoupled YAML (techniques.yaml).</a:t>
            </a: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dit\AppData\Local\Temp\claude\D--projects-hackx-rahul\e10a9331-0530-4bb5-a7da-3c2666daae57\scratchpad\ppt\assets\manipa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4" y="158191"/>
            <a:ext cx="2524658" cy="508406"/>
          </a:xfrm>
          <a:prstGeom prst="rect">
            <a:avLst/>
          </a:prstGeom>
        </p:spPr>
      </p:pic>
      <p:pic>
        <p:nvPicPr>
          <p:cNvPr id="3" name="Image 1" descr="C:\Users\Udit\AppData\Local\Temp\claude\D--projects-hackx-rahul\e10a9331-0530-4bb5-a7da-3c2666daae57\scratchpad\ppt\assets\hackx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141732"/>
            <a:ext cx="1426464" cy="571500"/>
          </a:xfrm>
          <a:prstGeom prst="rect">
            <a:avLst/>
          </a:prstGeom>
        </p:spPr>
      </p:pic>
      <p:pic>
        <p:nvPicPr>
          <p:cNvPr id="4" name="Image 2" descr="C:\Users\Udit\AppData\Local\Temp\claude\D--projects-hackx-rahul\e10a9331-0530-4bb5-a7da-3c2666daae57\scratchpad\ppt\assets\sponsors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117958"/>
            <a:ext cx="4174236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97280" y="86868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&amp; DESIGN</a:t>
            </a:r>
            <a:endParaRPr lang="en-US" sz="3200" dirty="0"/>
          </a:p>
        </p:txBody>
      </p:sp>
      <p:sp>
        <p:nvSpPr>
          <p:cNvPr id="6" name="Shape 1"/>
          <p:cNvSpPr/>
          <p:nvPr/>
        </p:nvSpPr>
        <p:spPr>
          <a:xfrm>
            <a:off x="466344" y="1746504"/>
            <a:ext cx="7022592" cy="4507992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15875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6000"/>
              </a:srgbClr>
            </a:outerShdw>
          </a:effectLst>
        </p:spPr>
      </p:sp>
      <p:pic>
        <p:nvPicPr>
          <p:cNvPr id="7" name="Image 3" descr="C:\Users\Udit\AppData\Local\Temp\claude\D--projects-hackx-rahul\e10a9331-0530-4bb5-a7da-3c2666daae57\scratchpad\ppt\shots\02_chess_audito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1783080"/>
            <a:ext cx="6949440" cy="443484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772400" y="1801368"/>
            <a:ext cx="347472" cy="347472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9" name="Text 3"/>
          <p:cNvSpPr txBox="1"/>
          <p:nvPr/>
        </p:nvSpPr>
        <p:spPr>
          <a:xfrm>
            <a:off x="777240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4"/>
          <p:cNvSpPr txBox="1"/>
          <p:nvPr/>
        </p:nvSpPr>
        <p:spPr>
          <a:xfrm>
            <a:off x="8247888" y="1783080"/>
            <a:ext cx="3440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Story (Keys 1–5)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8247888" y="2093976"/>
            <a:ext cx="34408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Keyboard-driven presets: Baseline → Full Seg (BLOCK P1) → MFA (REVIEW) → Scoped Seg (DEPLOY) → Sync Drift.</a:t>
            </a:r>
            <a:endParaRPr lang="en-US" sz="1060" dirty="0"/>
          </a:p>
        </p:txBody>
      </p:sp>
      <p:sp>
        <p:nvSpPr>
          <p:cNvPr id="12" name="Shape 6"/>
          <p:cNvSpPr/>
          <p:nvPr/>
        </p:nvSpPr>
        <p:spPr>
          <a:xfrm>
            <a:off x="7772400" y="2697480"/>
            <a:ext cx="347472" cy="347472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777240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8247888" y="2679192"/>
            <a:ext cx="3440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4-Zone Topology Canvas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8247888" y="2990088"/>
            <a:ext cx="34408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SVG: DMZ → Corp → Bastion → Prod. Attack links in amber/red, active service flows in cyan, severed in red.</a:t>
            </a:r>
            <a:endParaRPr lang="en-US" sz="1060" dirty="0"/>
          </a:p>
        </p:txBody>
      </p:sp>
      <p:sp>
        <p:nvSpPr>
          <p:cNvPr id="16" name="Shape 10"/>
          <p:cNvSpPr/>
          <p:nvPr/>
        </p:nvSpPr>
        <p:spPr>
          <a:xfrm>
            <a:off x="7772400" y="3593592"/>
            <a:ext cx="347472" cy="347472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77240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8247888" y="3575304"/>
            <a:ext cx="3440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Cascade &amp; Blast Radius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247888" y="3886200"/>
            <a:ext cx="34408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falling-nodes animation with COMPROMISED / RE-PLAN badges; 1-click downstream blast-radius reachability.</a:t>
            </a:r>
            <a:endParaRPr lang="en-US" sz="1060" dirty="0"/>
          </a:p>
        </p:txBody>
      </p:sp>
      <p:sp>
        <p:nvSpPr>
          <p:cNvPr id="20" name="Shape 14"/>
          <p:cNvSpPr/>
          <p:nvPr/>
        </p:nvSpPr>
        <p:spPr>
          <a:xfrm>
            <a:off x="7772400" y="4489704"/>
            <a:ext cx="347472" cy="347472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72400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247888" y="4471416"/>
            <a:ext cx="3440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Piece Security Auditor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247888" y="4782312"/>
            <a:ext cx="34408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as a pawn walking the topology hop by hop, scoring candidate moves and computing chokepoint cut-sets.</a:t>
            </a:r>
            <a:endParaRPr lang="en-US" sz="1060" dirty="0"/>
          </a:p>
        </p:txBody>
      </p:sp>
      <p:sp>
        <p:nvSpPr>
          <p:cNvPr id="24" name="Shape 18"/>
          <p:cNvSpPr/>
          <p:nvPr/>
        </p:nvSpPr>
        <p:spPr>
          <a:xfrm>
            <a:off x="7772400" y="5385816"/>
            <a:ext cx="347472" cy="347472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0" y="5385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247888" y="5367528"/>
            <a:ext cx="34408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Portfolio Optimizer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247888" y="5678424"/>
            <a:ext cx="34408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slider ($1k–$8k) + criticality ceiling → constrained safe portfolio vs naive unconstrained (breaks payroll).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dit\AppData\Local\Temp\claude\D--projects-hackx-rahul\e10a9331-0530-4bb5-a7da-3c2666daae57\scratchpad\ppt\assets\manipa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4" y="158191"/>
            <a:ext cx="2524658" cy="508406"/>
          </a:xfrm>
          <a:prstGeom prst="rect">
            <a:avLst/>
          </a:prstGeom>
        </p:spPr>
      </p:pic>
      <p:pic>
        <p:nvPicPr>
          <p:cNvPr id="3" name="Image 1" descr="C:\Users\Udit\AppData\Local\Temp\claude\D--projects-hackx-rahul\e10a9331-0530-4bb5-a7da-3c2666daae57\scratchpad\ppt\assets\hackx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141732"/>
            <a:ext cx="1426464" cy="571500"/>
          </a:xfrm>
          <a:prstGeom prst="rect">
            <a:avLst/>
          </a:prstGeom>
        </p:spPr>
      </p:pic>
      <p:pic>
        <p:nvPicPr>
          <p:cNvPr id="4" name="Image 2" descr="C:\Users\Udit\AppData\Local\Temp\claude\D--projects-hackx-rahul\e10a9331-0530-4bb5-a7da-3c2666daae57\scratchpad\ppt\assets\sponsors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117958"/>
            <a:ext cx="4174236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97280" y="86868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3200" dirty="0"/>
          </a:p>
        </p:txBody>
      </p:sp>
      <p:sp>
        <p:nvSpPr>
          <p:cNvPr id="6" name="Text 1"/>
          <p:cNvSpPr txBox="1"/>
          <p:nvPr/>
        </p:nvSpPr>
        <p:spPr>
          <a:xfrm>
            <a:off x="502920" y="162763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is mathematically proven and already implemented — 278 automated tests pin exact stage numbers.</a:t>
            </a:r>
            <a:endParaRPr lang="en-US" sz="1300" dirty="0"/>
          </a:p>
        </p:txBody>
      </p:sp>
      <p:sp>
        <p:nvSpPr>
          <p:cNvPr id="7" name="Shape 2"/>
          <p:cNvSpPr/>
          <p:nvPr/>
        </p:nvSpPr>
        <p:spPr>
          <a:xfrm>
            <a:off x="1435075" y="2167128"/>
            <a:ext cx="9321546" cy="0"/>
          </a:xfrm>
          <a:prstGeom prst="line">
            <a:avLst/>
          </a:prstGeom>
          <a:noFill/>
          <a:ln w="28575">
            <a:solidFill>
              <a:srgbClr val="6425C9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371067" y="2103120"/>
            <a:ext cx="128016" cy="128016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502920" y="1783080"/>
            <a:ext cx="18643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0–3h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502920" y="2295144"/>
            <a:ext cx="1864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Frozen</a:t>
            </a:r>
            <a:endParaRPr lang="en-US" sz="112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2587752"/>
            <a:ext cx="1772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+ techniques.yaml locked; test fixtures written first</a:t>
            </a:r>
            <a:endParaRPr lang="en-US" sz="930" dirty="0"/>
          </a:p>
        </p:txBody>
      </p:sp>
      <p:sp>
        <p:nvSpPr>
          <p:cNvPr id="12" name="Shape 7"/>
          <p:cNvSpPr/>
          <p:nvPr/>
        </p:nvSpPr>
        <p:spPr>
          <a:xfrm>
            <a:off x="3235376" y="2103120"/>
            <a:ext cx="128016" cy="128016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2367229" y="1783080"/>
            <a:ext cx="18643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3–10h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2367229" y="2295144"/>
            <a:ext cx="1864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</a:t>
            </a:r>
            <a:endParaRPr lang="en-US" sz="1120" dirty="0"/>
          </a:p>
        </p:txBody>
      </p:sp>
      <p:sp>
        <p:nvSpPr>
          <p:cNvPr id="15" name="Text 10"/>
          <p:cNvSpPr txBox="1"/>
          <p:nvPr/>
        </p:nvSpPr>
        <p:spPr>
          <a:xfrm>
            <a:off x="2412949" y="2587752"/>
            <a:ext cx="1772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 A stateful DFS + Alg B Monte Carlo walk — 4 parallel branches</a:t>
            </a:r>
            <a:endParaRPr lang="en-US" sz="930" dirty="0"/>
          </a:p>
        </p:txBody>
      </p:sp>
      <p:sp>
        <p:nvSpPr>
          <p:cNvPr id="16" name="Shape 11"/>
          <p:cNvSpPr/>
          <p:nvPr/>
        </p:nvSpPr>
        <p:spPr>
          <a:xfrm>
            <a:off x="5099685" y="2103120"/>
            <a:ext cx="128016" cy="128016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231538" y="1783080"/>
            <a:ext cx="18643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10–16h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231538" y="2295144"/>
            <a:ext cx="1864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Engine</a:t>
            </a:r>
            <a:endParaRPr lang="en-US" sz="1120" dirty="0"/>
          </a:p>
        </p:txBody>
      </p:sp>
      <p:sp>
        <p:nvSpPr>
          <p:cNvPr id="19" name="Text 14"/>
          <p:cNvSpPr txBox="1"/>
          <p:nvPr/>
        </p:nvSpPr>
        <p:spPr>
          <a:xfrm>
            <a:off x="4277258" y="2587752"/>
            <a:ext cx="1772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ServiceFlow severance contract, confidence scoring, metrics engine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6963994" y="2103120"/>
            <a:ext cx="128016" cy="128016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095848" y="1783080"/>
            <a:ext cx="18643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16–20h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095848" y="2295144"/>
            <a:ext cx="1864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&amp; Blast</a:t>
            </a:r>
            <a:endParaRPr lang="en-US" sz="1120" dirty="0"/>
          </a:p>
        </p:txBody>
      </p:sp>
      <p:sp>
        <p:nvSpPr>
          <p:cNvPr id="23" name="Text 18"/>
          <p:cNvSpPr txBox="1"/>
          <p:nvPr/>
        </p:nvSpPr>
        <p:spPr>
          <a:xfrm>
            <a:off x="6141568" y="2587752"/>
            <a:ext cx="1772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knapsack portfolio + NetworkX blast-radius reachability</a:t>
            </a:r>
            <a:endParaRPr lang="en-US" sz="930" dirty="0"/>
          </a:p>
        </p:txBody>
      </p:sp>
      <p:sp>
        <p:nvSpPr>
          <p:cNvPr id="24" name="Shape 19"/>
          <p:cNvSpPr/>
          <p:nvPr/>
        </p:nvSpPr>
        <p:spPr>
          <a:xfrm>
            <a:off x="8828303" y="2103120"/>
            <a:ext cx="128016" cy="128016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960157" y="1783080"/>
            <a:ext cx="18643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20–24h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7960157" y="2295144"/>
            <a:ext cx="1864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Multi-Sector Sync</a:t>
            </a:r>
            <a:endParaRPr lang="en-US" sz="1120" dirty="0"/>
          </a:p>
        </p:txBody>
      </p:sp>
      <p:sp>
        <p:nvSpPr>
          <p:cNvPr id="27" name="Text 22"/>
          <p:cNvSpPr txBox="1"/>
          <p:nvPr/>
        </p:nvSpPr>
        <p:spPr>
          <a:xfrm>
            <a:off x="8005877" y="2587752"/>
            <a:ext cx="1772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enterprise twins (Finance, Health, Cloud, Grid) + SHA-256 lineage</a:t>
            </a:r>
            <a:endParaRPr lang="en-US" sz="930" dirty="0"/>
          </a:p>
        </p:txBody>
      </p:sp>
      <p:sp>
        <p:nvSpPr>
          <p:cNvPr id="28" name="Shape 23"/>
          <p:cNvSpPr/>
          <p:nvPr/>
        </p:nvSpPr>
        <p:spPr>
          <a:xfrm>
            <a:off x="10692613" y="2103120"/>
            <a:ext cx="128016" cy="128016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9824466" y="1783080"/>
            <a:ext cx="18643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24–36h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9824466" y="2295144"/>
            <a:ext cx="1864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UI &amp; Harden</a:t>
            </a:r>
            <a:endParaRPr lang="en-US" sz="1120" dirty="0"/>
          </a:p>
        </p:txBody>
      </p:sp>
      <p:sp>
        <p:nvSpPr>
          <p:cNvPr id="31" name="Text 26"/>
          <p:cNvSpPr txBox="1"/>
          <p:nvPr/>
        </p:nvSpPr>
        <p:spPr>
          <a:xfrm>
            <a:off x="9870186" y="2587752"/>
            <a:ext cx="1772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6E6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passing tests (&lt;3s), live demo presets, rehearsal &amp; packaging</a:t>
            </a:r>
            <a:endParaRPr lang="en-US" sz="930" dirty="0"/>
          </a:p>
        </p:txBody>
      </p:sp>
      <p:sp>
        <p:nvSpPr>
          <p:cNvPr id="32" name="Shape 27"/>
          <p:cNvSpPr/>
          <p:nvPr/>
        </p:nvSpPr>
        <p:spPr>
          <a:xfrm>
            <a:off x="502920" y="3931920"/>
            <a:ext cx="3545738" cy="2194560"/>
          </a:xfrm>
          <a:prstGeom prst="roundRect">
            <a:avLst>
              <a:gd name="adj" fmla="val 3750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722376" y="4114800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Automated Tests Passing</a:t>
            </a:r>
            <a:endParaRPr lang="en-US" sz="1450" dirty="0"/>
          </a:p>
        </p:txBody>
      </p:sp>
      <p:sp>
        <p:nvSpPr>
          <p:cNvPr id="34" name="Text 29"/>
          <p:cNvSpPr txBox="1"/>
          <p:nvPr/>
        </p:nvSpPr>
        <p:spPr>
          <a:xfrm>
            <a:off x="722376" y="4617720"/>
            <a:ext cx="31068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2.82s (pytest). Invariants asserted: control never increases attacker success; clone never mutates state; same seed → identical numbers.</a:t>
            </a:r>
            <a:endParaRPr lang="en-US" sz="1120" dirty="0"/>
          </a:p>
        </p:txBody>
      </p:sp>
      <p:sp>
        <p:nvSpPr>
          <p:cNvPr id="35" name="Shape 30"/>
          <p:cNvSpPr/>
          <p:nvPr/>
        </p:nvSpPr>
        <p:spPr>
          <a:xfrm>
            <a:off x="4322978" y="3931920"/>
            <a:ext cx="3545738" cy="2194560"/>
          </a:xfrm>
          <a:prstGeom prst="roundRect">
            <a:avLst>
              <a:gd name="adj" fmla="val 3750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4542434" y="4114800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by Design</a:t>
            </a:r>
            <a:endParaRPr lang="en-US" sz="1450" dirty="0"/>
          </a:p>
        </p:txBody>
      </p:sp>
      <p:sp>
        <p:nvSpPr>
          <p:cNvPr id="37" name="Text 32"/>
          <p:cNvSpPr txBox="1"/>
          <p:nvPr/>
        </p:nvSpPr>
        <p:spPr>
          <a:xfrm>
            <a:off x="4542434" y="4617720"/>
            <a:ext cx="31068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RNG, seed in LRU cache key. Stage numbers match rehearsal numbers every time. Simulation latency &lt;40ms.</a:t>
            </a:r>
            <a:endParaRPr lang="en-US" sz="1120" dirty="0"/>
          </a:p>
        </p:txBody>
      </p:sp>
      <p:sp>
        <p:nvSpPr>
          <p:cNvPr id="38" name="Shape 33"/>
          <p:cNvSpPr/>
          <p:nvPr/>
        </p:nvSpPr>
        <p:spPr>
          <a:xfrm>
            <a:off x="8143037" y="3931920"/>
            <a:ext cx="3545738" cy="2194560"/>
          </a:xfrm>
          <a:prstGeom prst="roundRect">
            <a:avLst>
              <a:gd name="adj" fmla="val 3750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8362493" y="4114800"/>
            <a:ext cx="31068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Hallucination</a:t>
            </a:r>
            <a:endParaRPr lang="en-US" sz="1450" dirty="0"/>
          </a:p>
        </p:txBody>
      </p:sp>
      <p:sp>
        <p:nvSpPr>
          <p:cNvPr id="40" name="Text 35"/>
          <p:cNvSpPr txBox="1"/>
          <p:nvPr/>
        </p:nvSpPr>
        <p:spPr>
          <a:xfrm>
            <a:off x="8362493" y="4617720"/>
            <a:ext cx="31068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graph theory and seeded Monte Carlo only. Zero LLMs in the critical security loop — mandatory for CAB compliance.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dit\AppData\Local\Temp\claude\D--projects-hackx-rahul\e10a9331-0530-4bb5-a7da-3c2666daae57\scratchpad\ppt\assets\manipa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4" y="158191"/>
            <a:ext cx="2524658" cy="508406"/>
          </a:xfrm>
          <a:prstGeom prst="rect">
            <a:avLst/>
          </a:prstGeom>
        </p:spPr>
      </p:pic>
      <p:pic>
        <p:nvPicPr>
          <p:cNvPr id="3" name="Image 1" descr="C:\Users\Udit\AppData\Local\Temp\claude\D--projects-hackx-rahul\e10a9331-0530-4bb5-a7da-3c2666daae57\scratchpad\ppt\assets\hackx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141732"/>
            <a:ext cx="1426464" cy="571500"/>
          </a:xfrm>
          <a:prstGeom prst="rect">
            <a:avLst/>
          </a:prstGeom>
        </p:spPr>
      </p:pic>
      <p:pic>
        <p:nvPicPr>
          <p:cNvPr id="4" name="Image 2" descr="C:\Users\Udit\AppData\Local\Temp\claude\D--projects-hackx-rahul\e10a9331-0530-4bb5-a7da-3c2666daae57\scratchpad\ppt\assets\sponsors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117958"/>
            <a:ext cx="4174236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97280" y="86868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3200" dirty="0"/>
          </a:p>
        </p:txBody>
      </p:sp>
      <p:sp>
        <p:nvSpPr>
          <p:cNvPr id="6" name="Shape 1"/>
          <p:cNvSpPr/>
          <p:nvPr/>
        </p:nvSpPr>
        <p:spPr>
          <a:xfrm>
            <a:off x="502920" y="1828800"/>
            <a:ext cx="5431536" cy="2011680"/>
          </a:xfrm>
          <a:prstGeom prst="roundRect">
            <a:avLst>
              <a:gd name="adj" fmla="val 4091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740664" y="2048256"/>
            <a:ext cx="384048" cy="384048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740664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89304" y="2011680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Costly P1 Outages Before Deployment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758952" y="2578608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often deploy rules that sever mission flows. Preset 2 shows full database isolation cuts 80% attack paths but severs Payroll (Crit 5) — caught and blocked before production.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254496" y="1828800"/>
            <a:ext cx="5431536" cy="2011680"/>
          </a:xfrm>
          <a:prstGeom prst="roundRect">
            <a:avLst>
              <a:gd name="adj" fmla="val 4091"/>
            </a:avLst>
          </a:prstGeom>
          <a:solidFill>
            <a:srgbClr val="EFE3FB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492240" y="2048256"/>
            <a:ext cx="384048" cy="384048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49224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040880" y="2011680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Attacker Re-Planning &amp; Pivot Paths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6510528" y="2578608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paths does not mean safer. When MFA is put on human bastions, the twin proves the adversary pivots through automated CI/CD machine tokens (Route D) — rendered animated on the graph.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4114800"/>
            <a:ext cx="5431536" cy="2011680"/>
          </a:xfrm>
          <a:prstGeom prst="roundRect">
            <a:avLst>
              <a:gd name="adj" fmla="val 4091"/>
            </a:avLst>
          </a:prstGeom>
          <a:solidFill>
            <a:srgbClr val="EFE3FB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" y="4334256"/>
            <a:ext cx="384048" cy="384048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4066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289304" y="4297680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Multi-Sector Ingestion in Under 5 Minutes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758952" y="4864608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hardcoded to one topology. Bundles 7 validated digital twins: FinBank Core Banking, Healthcare Hospital (Epic EHR + Infusion Pumps), AWS Cloud SaaS, and DoE Critical Grid + live JSON import.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54496" y="4114800"/>
            <a:ext cx="5431536" cy="2011680"/>
          </a:xfrm>
          <a:prstGeom prst="roundRect">
            <a:avLst>
              <a:gd name="adj" fmla="val 4091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4334256"/>
            <a:ext cx="384048" cy="384048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4922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7040880" y="4297680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Defense-Grade Confidence &amp; Compliance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6510528" y="4864608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ships with a Wilson score 95% confidence interval and evidence-weighted calibration (Observed 1.0, Inventory 0.9, Inferred 0.5) — ready for Change Board non-repudiation.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dit\AppData\Local\Temp\claude\D--projects-hackx-rahul\e10a9331-0530-4bb5-a7da-3c2666daae57\scratchpad\ppt\assets\manipa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4" y="158191"/>
            <a:ext cx="2524658" cy="508406"/>
          </a:xfrm>
          <a:prstGeom prst="rect">
            <a:avLst/>
          </a:prstGeom>
        </p:spPr>
      </p:pic>
      <p:pic>
        <p:nvPicPr>
          <p:cNvPr id="3" name="Image 1" descr="C:\Users\Udit\AppData\Local\Temp\claude\D--projects-hackx-rahul\e10a9331-0530-4bb5-a7da-3c2666daae57\scratchpad\ppt\assets\hackx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141732"/>
            <a:ext cx="1426464" cy="571500"/>
          </a:xfrm>
          <a:prstGeom prst="rect">
            <a:avLst/>
          </a:prstGeom>
        </p:spPr>
      </p:pic>
      <p:pic>
        <p:nvPicPr>
          <p:cNvPr id="4" name="Image 2" descr="C:\Users\Udit\AppData\Local\Temp\claude\D--projects-hackx-rahul\e10a9331-0530-4bb5-a7da-3c2666daae57\scratchpad\ppt\assets\sponsors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117958"/>
            <a:ext cx="4174236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97280" y="86868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SUSTAINABILITY</a:t>
            </a:r>
            <a:endParaRPr lang="en-US" sz="3200" dirty="0"/>
          </a:p>
        </p:txBody>
      </p:sp>
      <p:sp>
        <p:nvSpPr>
          <p:cNvPr id="6" name="Shape 1"/>
          <p:cNvSpPr/>
          <p:nvPr/>
        </p:nvSpPr>
        <p:spPr>
          <a:xfrm>
            <a:off x="502920" y="1828800"/>
            <a:ext cx="5431536" cy="2011680"/>
          </a:xfrm>
          <a:prstGeom prst="roundRect">
            <a:avLst>
              <a:gd name="adj" fmla="val 4091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740664" y="2048256"/>
            <a:ext cx="384048" cy="384048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740664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289304" y="2011680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CAB SaaS Subscriptions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758952" y="2578608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licensing per digital twin / per-seat for enterprise cybersecurity and platform engineering teams running Change Advisory Boards in banking, healthcare, and defence.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254496" y="1828800"/>
            <a:ext cx="5431536" cy="2011680"/>
          </a:xfrm>
          <a:prstGeom prst="roundRect">
            <a:avLst>
              <a:gd name="adj" fmla="val 4091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492240" y="2048256"/>
            <a:ext cx="384048" cy="384048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49224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040880" y="2011680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MSSP &amp; Consultancy White-Label Edition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6510528" y="2578608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for cybersecurity consulting firms and managed service providers to model, stress-test, and certify proposed client architecture changes before deployment.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4114800"/>
            <a:ext cx="5431536" cy="2011680"/>
          </a:xfrm>
          <a:prstGeom prst="roundRect">
            <a:avLst>
              <a:gd name="adj" fmla="val 4091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" y="4334256"/>
            <a:ext cx="384048" cy="384048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4066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289304" y="4297680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Marketplace Integrations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758952" y="4864608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 marketplace native app that connects via read-only IAM/VNet APIs to continuously reconstruct and update the infrastructure twin as changes occur.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54496" y="4114800"/>
            <a:ext cx="5431536" cy="2011680"/>
          </a:xfrm>
          <a:prstGeom prst="roundRect">
            <a:avLst>
              <a:gd name="adj" fmla="val 4091"/>
            </a:avLst>
          </a:prstGeom>
          <a:solidFill>
            <a:srgbClr val="F4ECFC"/>
          </a:solidFill>
          <a:ln w="12700">
            <a:solidFill>
              <a:srgbClr val="E1D3F5"/>
            </a:solidFill>
            <a:prstDash val="solid"/>
          </a:ln>
          <a:effectLst>
            <a:outerShdw sx="100000" sy="100000" kx="0" ky="0" algn="bl" rotWithShape="0" blurRad="101600" dist="25400" dir="5400000">
              <a:srgbClr val="3A2A55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4334256"/>
            <a:ext cx="384048" cy="384048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49224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7040880" y="4297680"/>
            <a:ext cx="4425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GRC &amp; Compliance Lineage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6510528" y="4864608"/>
            <a:ext cx="4919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immutable cryptographic SHA-256 audit trails satisfying SOC 2 Type II, PCI-DSS v4.0, ISO 27001, and EU DORA change-management evidence requirements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dit\AppData\Local\Temp\claude\D--projects-hackx-rahul\e10a9331-0530-4bb5-a7da-3c2666daae57\scratchpad\ppt\assets\manipa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4" y="158191"/>
            <a:ext cx="2524658" cy="508406"/>
          </a:xfrm>
          <a:prstGeom prst="rect">
            <a:avLst/>
          </a:prstGeom>
        </p:spPr>
      </p:pic>
      <p:pic>
        <p:nvPicPr>
          <p:cNvPr id="3" name="Image 1" descr="C:\Users\Udit\AppData\Local\Temp\claude\D--projects-hackx-rahul\e10a9331-0530-4bb5-a7da-3c2666daae57\scratchpad\ppt\assets\hackx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141732"/>
            <a:ext cx="1426464" cy="571500"/>
          </a:xfrm>
          <a:prstGeom prst="rect">
            <a:avLst/>
          </a:prstGeom>
        </p:spPr>
      </p:pic>
      <p:pic>
        <p:nvPicPr>
          <p:cNvPr id="4" name="Image 2" descr="C:\Users\Udit\AppData\Local\Temp\claude\D--projects-hackx-rahul\e10a9331-0530-4bb5-a7da-3c2666daae57\scratchpad\ppt\assets\sponsors_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67" y="117958"/>
            <a:ext cx="4174236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097280" y="868680"/>
            <a:ext cx="9994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3200" dirty="0"/>
          </a:p>
        </p:txBody>
      </p:sp>
      <p:sp>
        <p:nvSpPr>
          <p:cNvPr id="6" name="Shape 1"/>
          <p:cNvSpPr/>
          <p:nvPr/>
        </p:nvSpPr>
        <p:spPr>
          <a:xfrm>
            <a:off x="502920" y="1920240"/>
            <a:ext cx="365760" cy="365760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7" name="Text 2"/>
          <p:cNvSpPr txBox="1"/>
          <p:nvPr/>
        </p:nvSpPr>
        <p:spPr>
          <a:xfrm>
            <a:off x="50292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1014984" y="18288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Grounding</a:t>
            </a:r>
            <a:endParaRPr lang="en-US" sz="1350" dirty="0"/>
          </a:p>
        </p:txBody>
      </p:sp>
      <p:sp>
        <p:nvSpPr>
          <p:cNvPr id="9" name="Text 4"/>
          <p:cNvSpPr txBox="1"/>
          <p:nvPr/>
        </p:nvSpPr>
        <p:spPr>
          <a:xfrm>
            <a:off x="1014984" y="2212848"/>
            <a:ext cx="4919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real techniques in decoupled YAML (techniques.yaml) — T1566, T1190, T1003, T1021.001, T1078, T1041 with real preconditions, costs, and noise.</a:t>
            </a:r>
            <a:endParaRPr lang="en-US" sz="1120" dirty="0"/>
          </a:p>
        </p:txBody>
      </p:sp>
      <p:sp>
        <p:nvSpPr>
          <p:cNvPr id="10" name="Shape 5"/>
          <p:cNvSpPr/>
          <p:nvPr/>
        </p:nvSpPr>
        <p:spPr>
          <a:xfrm>
            <a:off x="6254496" y="1920240"/>
            <a:ext cx="365760" cy="365760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6254496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766560" y="18288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Frozen Pydantic v2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766560" y="2212848"/>
            <a:ext cx="4919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content-addressed digital twin models (tuples, frozensets) with SHA-256 hashing and high-throughput LRU result caching.</a:t>
            </a:r>
            <a:endParaRPr lang="en-US" sz="1120" dirty="0"/>
          </a:p>
        </p:txBody>
      </p:sp>
      <p:sp>
        <p:nvSpPr>
          <p:cNvPr id="14" name="Shape 9"/>
          <p:cNvSpPr/>
          <p:nvPr/>
        </p:nvSpPr>
        <p:spPr>
          <a:xfrm>
            <a:off x="502920" y="3429000"/>
            <a:ext cx="365760" cy="365760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5029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014984" y="333756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&amp; Graph Theory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014984" y="3721608"/>
            <a:ext cx="4919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State-space depth-first search (DFS) capped at depth 8 / 5,000 states; nx.descendants for blast-radius calculations and crown-jewel exposure.</a:t>
            </a:r>
            <a:endParaRPr lang="en-US" sz="1120" dirty="0"/>
          </a:p>
        </p:txBody>
      </p:sp>
      <p:sp>
        <p:nvSpPr>
          <p:cNvPr id="18" name="Shape 13"/>
          <p:cNvSpPr/>
          <p:nvPr/>
        </p:nvSpPr>
        <p:spPr>
          <a:xfrm>
            <a:off x="6254496" y="3429000"/>
            <a:ext cx="365760" cy="365760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254496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766560" y="333756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Monte Carlo &amp; Wilson Score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766560" y="3721608"/>
            <a:ext cx="4919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200–500 seeded stochastic agent walks; Wilson score confidence intervals for binomial proportion uncertainty on small sample sizes.</a:t>
            </a:r>
            <a:endParaRPr lang="en-US" sz="1120" dirty="0"/>
          </a:p>
        </p:txBody>
      </p:sp>
      <p:sp>
        <p:nvSpPr>
          <p:cNvPr id="22" name="Shape 17"/>
          <p:cNvSpPr/>
          <p:nvPr/>
        </p:nvSpPr>
        <p:spPr>
          <a:xfrm>
            <a:off x="502920" y="4937760"/>
            <a:ext cx="365760" cy="365760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0292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1014984" y="48463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Academic Positioning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1014984" y="5230368"/>
            <a:ext cx="4919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accurately against MAL Simulator (KTH), CAGE / CybORG, BloodHound Enterprise, and Azure VNM rule impact analyzer.</a:t>
            </a:r>
            <a:endParaRPr lang="en-US" sz="1120" dirty="0"/>
          </a:p>
        </p:txBody>
      </p:sp>
      <p:sp>
        <p:nvSpPr>
          <p:cNvPr id="26" name="Shape 21"/>
          <p:cNvSpPr/>
          <p:nvPr/>
        </p:nvSpPr>
        <p:spPr>
          <a:xfrm>
            <a:off x="6254496" y="4937760"/>
            <a:ext cx="365760" cy="365760"/>
          </a:xfrm>
          <a:prstGeom prst="ellipse">
            <a:avLst/>
          </a:prstGeom>
          <a:solidFill>
            <a:srgbClr val="4A1D8F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254496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6766560" y="484632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&amp; Hand-Rolled SVG Graph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6766560" y="5230368"/>
            <a:ext cx="49194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20" dirty="0">
                <a:solidFill>
                  <a:srgbClr val="3B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Judge-first lean dashboard with 5 instant keyboard presets, falling-nodes breach animation, and the Chess Piece Security Auditor.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2026-09-11T23:59:49Z</dcterms:created>
  <dcterms:modified xsi:type="dcterms:W3CDTF">2026-09-11T23:59:49Z</dcterms:modified>
</cp:coreProperties>
</file>